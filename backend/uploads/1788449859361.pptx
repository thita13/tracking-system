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+hQTWfWpJ+uThQeawGaGZbm2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685800"/>
            <a:ext cx="1572768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6858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ด่วน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วิกฤตเคลมภัยพิบัติ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20574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เคลมพุ่งหลักหมื่นราย มูลค่าหมื่นล้าน ในชั่วพริบตา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971800"/>
            <a:ext cx="3566160" cy="141732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48640" y="2971800"/>
            <a:ext cx="73152" cy="141732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04672" y="31089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62,147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38221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ราย เรียกร้องสินไหม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343400" y="2971800"/>
            <a:ext cx="3566160" cy="141732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343400" y="2971800"/>
            <a:ext cx="73152" cy="141732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599432" y="31089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16,029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617720" y="38221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ล้านบาท มูลค่าเสียหาย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138160" y="2971800"/>
            <a:ext cx="3566160" cy="141732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138160" y="2971800"/>
            <a:ext cx="73152" cy="141732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394192" y="310896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412480" y="38221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วัน กำหนดจ่ายตามกฎหมาย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48640" y="4800600"/>
            <a:ext cx="7589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22960" y="489204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WitnessClaim Bureau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1500"/>
              <a:buFont typeface="Cambria"/>
              <a:buNone/>
            </a:pPr>
            <a:r>
              <a:rPr b="0" i="0" lang="en-US" sz="1500" u="none" cap="none" strike="noStrike">
                <a:solidFill>
                  <a:srgbClr val="0958B2"/>
                </a:solidFill>
                <a:latin typeface="Cambria"/>
                <a:ea typeface="Cambria"/>
                <a:cs typeface="Cambria"/>
                <a:sym typeface="Cambria"/>
              </a:rPr>
              <a:t>บูโรหลักฐานความเสียหายแห่งชาติ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ทีม Token Me Limit  •  OIC InsurTech Award 2026  •  ความเสี่ยงด้านภัยพิบัติ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D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01  สถานการณ์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คอขวดครั้งประวัติศาสตร์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48640" y="1965960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417320" y="21488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ผู้ประเมินเข้าพื้นที่ไม่ได้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35608" y="2569464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ขึ้นทะเบียน คปภ. เพิ่มคนเร่งด่วนไม่ได้ ทำได้วันละ 3–5 เคส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3264408"/>
            <a:ext cx="11064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48640" y="3264408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7724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417320" y="344728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หลักฐานกำลังเลือนหาย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435608" y="386791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รอยคราบน้ำจางลงทุกวัน เจ้าของทำความสะอาดก่อนมีคนมาดู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48640" y="4562856"/>
            <a:ext cx="11064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48640" y="4562856"/>
            <a:ext cx="64008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77240" y="48371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417320" y="474573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เสี่ยงถูก คปภ. ลงโทษ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435608" y="516636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จ่ายช้าเกิน 15 วัน เข้าข่ายประวิงการจ่ายค่าสินไหม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ภัยหมู่ = ปริมาณงานพุ่ง 100 เท่า แต่กำลังคนเท่าเดิม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530352" y="890919"/>
            <a:ext cx="110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ต้นทุนเบื้องหลังวิกฤต</a:t>
            </a:r>
            <a:endParaRPr i="0" sz="3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66928" y="1672302"/>
            <a:ext cx="1371600" cy="5040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48640" y="1920240"/>
            <a:ext cx="5394960" cy="288036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ต้นทุนส่งผู้ประเมินลงพื้นที่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256032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780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41248" y="35844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5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0A500"/>
                </a:solidFill>
                <a:latin typeface="Calibri"/>
                <a:ea typeface="Calibri"/>
                <a:cs typeface="Calibri"/>
                <a:sym typeface="Calibri"/>
              </a:rPr>
              <a:t>บาท ต่อเคส (ประมาณการ)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41248" y="4041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ค่าเดินทาง + ค่าแรงรวมราว 1,800 บาท/วัน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217920" y="1920240"/>
            <a:ext cx="5394960" cy="2880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เมื่อเกิดภัยหมู่ 62,147 เคส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92240" y="256032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48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10528" y="35844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ล้านบาท ต้นทุนประเมินทันที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510528" y="404164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ทั้งที่ผู้ประเมินทำงานเกินกำลัง และประชาชนยังรอเงินเยียวยา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50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500"/>
                </a:solidFill>
                <a:latin typeface="Cambria"/>
                <a:ea typeface="Cambria"/>
                <a:cs typeface="Cambria"/>
                <a:sym typeface="Cambria"/>
              </a:rPr>
              <a:t>ทางออกไม่ใช่การเพิ่มคน  แต่คือการเปลี่ยนโครงสร้างของระบบ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ตัวเลขต้นทุนเป็นการประมาณการเบื้องต้น อยู่ระหว่างตรวจสอบกับผู้ประกอบการ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548640" y="685800"/>
            <a:ext cx="1572768" cy="384048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48640" y="6858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ทางออก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0352" y="12344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WitnessClaim Bureau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6928" y="20848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บูโรหลักฐานความเสียหายแห่งชาติ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2743200"/>
            <a:ext cx="11064240" cy="1051560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22960" y="274320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เปรียบเสมือน "เครดิตบูโรแห่งความเสียหาย" ที่ คปภ. เป็นเจ้าภาพ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4114800"/>
            <a:ext cx="3566160" cy="137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95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77240" y="43159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ผู้เอาประกัน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95528" y="47914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ถ่ายหลักฐานเอง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114800" y="452628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343400" y="4114800"/>
            <a:ext cx="3566160" cy="137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95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572000" y="43159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90288" y="47914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พิสูจน์ + ให้คะแนน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909560" y="452628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38160" y="4114800"/>
            <a:ext cx="3566160" cy="137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95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8366760" y="43159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Triage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385048" y="47914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คัดเคสให้ผู้ประเมิน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ถ่ายครั้งเดียว ใช้ได้ทุกบริษัท  •  One capture, every insurer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03  ขั้นตอนที่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ผู้เอาประกันถ่ายหลักฐานเอง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48640" y="2011680"/>
            <a:ext cx="53949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48640" y="2011680"/>
            <a:ext cx="64008" cy="109728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22960" y="21945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เปิดใช้ทันที ไม่ต้องติดตั้ง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41248" y="2615184"/>
            <a:ext cx="4828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เว็บแอปบนมือถือ เปิดจาก QR ได้เลย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217920" y="2011680"/>
            <a:ext cx="53949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217920" y="2011680"/>
            <a:ext cx="64008" cy="109728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492240" y="21945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ถ่ายในช่วงน้ำลด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510528" y="2615184"/>
            <a:ext cx="4828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บันทึกรอยคราบน้ำก่อนถูกทำความสะอาด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3310128"/>
            <a:ext cx="53949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48640" y="3310128"/>
            <a:ext cx="64008" cy="109728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822960" y="349300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วัดระดับน้ำด้วยบัตรประชาชน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41248" y="3913632"/>
            <a:ext cx="4828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ขนาดมาตรฐาน ISO เท่ากันทุกใบ ใช้เทียบสเกลรอยคราบ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217920" y="3310128"/>
            <a:ext cx="53949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217920" y="3310128"/>
            <a:ext cx="64008" cy="109728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92240" y="349300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บังคับพิกัดและเวลาจริง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510528" y="3913632"/>
            <a:ext cx="4828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ถ่ายสดในระบบเท่านั้น อัปโหลดรูปเก่าไม่ได้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4608576"/>
            <a:ext cx="11064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48640" y="4608576"/>
            <a:ext cx="64008" cy="109728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822960" y="4791456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ทำงานได้แม้สัญญาณล่ม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41248" y="5212080"/>
            <a:ext cx="10497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Offline-first แล้วซิงก์เมื่อเน็ตกลับมา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ไม่ต้องรอผู้ประเมินเข้าพื้นที่ เจ้าของอยู่หน้างานก่อนเสมอ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5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500"/>
                </a:solidFill>
                <a:latin typeface="Calibri"/>
                <a:ea typeface="Calibri"/>
                <a:cs typeface="Calibri"/>
                <a:sym typeface="Calibri"/>
              </a:rPr>
              <a:t>04  ขั้นตอนที่ 2–3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พิสูจน์ความจริง แล้วคัดกรอง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8640" y="1920240"/>
            <a:ext cx="5394960" cy="251460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22960" y="21031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Verification Engine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41248" y="260604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ล็อกภาพด้วยลายเซ็นดิจิทัล กันตัดต่อ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Cross-check ดาวเทียม Sentinel-1 SAR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เทียบระดับน้ำจากกรมชลประทาน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ตรวจภาพซ้ำข้ามบริษัทด้วย pHash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217920" y="1920240"/>
            <a:ext cx="5394960" cy="251460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92240" y="21031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Triage Dashboard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510528" y="2724912"/>
            <a:ext cx="219456" cy="219456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839712" y="265176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เขียว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อนุมัติจากโต๊ะ ไม่ต้องลงพื้นที่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510528" y="3273552"/>
            <a:ext cx="219456" cy="219456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839712" y="320040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เหลือง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635240" y="3200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วิดีโอคอลยืนยัน 15 นาที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510528" y="3822192"/>
            <a:ext cx="219456" cy="219456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839712" y="37490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แดง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635240" y="3749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จัดคิวให้ผู้ประเมินลงพื้นที่ก่อน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ระบบไม่แทนที่ผู้ประเมิน — เปลี่ยนจาก "ไปทุกเคส" เป็น "ไปเฉพาะเคสที่ต้องใช้คน"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สาธิตระบบจริง — 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05  ทำไมเป็นไปได้จริง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โครงสร้างที่เอกชนสร้างไม่ได้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48640" y="1965960"/>
            <a:ext cx="11064240" cy="1051560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ไม่มีบริษัทไหนยอมให้คู่แข่งถือข้อมูลเคลมของตัวเอง จึงต้องมีหน่วยงานกลางเป็นเจ้าภาพ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3337560"/>
            <a:ext cx="35661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48640" y="3337560"/>
            <a:ext cx="3566160" cy="64008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04672" y="3611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ข้อมูลรัฐเปิดฟรี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22960" y="41605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กรมชล / สสน. / ปภ. / Sentinel-1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ต่างชาติเข้าไม่ถึง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343400" y="3337560"/>
            <a:ext cx="35661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343400" y="3337560"/>
            <a:ext cx="3566160" cy="64008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599432" y="3611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ทำงานตอนเน็ตล่ม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617720" y="41605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Offline-first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สิ่งที่โซลูชันต่างชาติมองข้าม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138160" y="3337560"/>
            <a:ext cx="356616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8138160" y="3337560"/>
            <a:ext cx="3566160" cy="64008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394192" y="3611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จับภาพซ้ำข้ามบริษัท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412480" y="41605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pHash ตรวจที่ระดับ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ทำได้เฉพาะแพลตฟอร์มกลาง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ICEYE และ Truepic แก้แล้ว แต่แยกเป็นชิ้น และขายทีละบริษัท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5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500"/>
                </a:solidFill>
                <a:latin typeface="Calibri"/>
                <a:ea typeface="Calibri"/>
                <a:cs typeface="Calibri"/>
                <a:sym typeface="Calibri"/>
              </a:rPr>
              <a:t>06  โมเดลธุรกิจ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จับมูลค่าแค่เศษเสี้ยว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48640" y="1920240"/>
            <a:ext cx="5166360" cy="1234440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804672" y="2057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บริษัทจ่ายให้บูโร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04672" y="2395728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50 บาท / เคส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46520" y="1920240"/>
            <a:ext cx="5166360" cy="123444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702552" y="2057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240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12402"/>
                </a:solidFill>
                <a:latin typeface="Calibri"/>
                <a:ea typeface="Calibri"/>
                <a:cs typeface="Calibri"/>
                <a:sym typeface="Calibri"/>
              </a:rPr>
              <a:t>เพื่อประหยัดต้นทุนเดิม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702552" y="2395728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240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412402"/>
                </a:solidFill>
                <a:latin typeface="Cambria"/>
                <a:ea typeface="Cambria"/>
                <a:cs typeface="Cambria"/>
                <a:sym typeface="Cambria"/>
              </a:rPr>
              <a:t>780 บาท / เคส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50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A500"/>
                </a:solidFill>
                <a:latin typeface="Cambria"/>
                <a:ea typeface="Cambria"/>
                <a:cs typeface="Cambria"/>
                <a:sym typeface="Cambria"/>
              </a:rPr>
              <a:t>ลูกค้าคุ้ม เราก็อยู่ได้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48640" y="3858768"/>
            <a:ext cx="11064240" cy="621792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22960" y="3858768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ต้นทุนใกล้ศูนย์ต่อเคส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0" y="385876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ใช้ข้อมูลรัฐที่เปิดฟรี ไม่ต้องซื้อภาพดาวเทียม และไม่เทรนโมเดล AI ราคาแพง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4590288"/>
            <a:ext cx="11064240" cy="621792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22960" y="4590288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รายได้ 2 ทาง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114800" y="459028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ค่าตรวจสอบต่อเคส + ค่าสมาชิกรายปีของบริษัทประกัน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48640" y="5321808"/>
            <a:ext cx="11064240" cy="621792"/>
          </a:xfrm>
          <a:prstGeom prst="rect">
            <a:avLst/>
          </a:prstGeom>
          <a:solidFill>
            <a:srgbClr val="00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822960" y="5321808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ผู้เอาประกันใช้ฟรีเสมอ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114800" y="532180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ไม่เก็บเงินผู้ประสบภัย เพื่อให้ระบบเข้าถึงได้จริง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ตัวเลขต้นทุน 780 บาท/เคส เป็นการประมาณการเบื้องต้น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D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8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958B2"/>
                </a:solidFill>
                <a:latin typeface="Calibri"/>
                <a:ea typeface="Calibri"/>
                <a:cs typeface="Calibri"/>
                <a:sym typeface="Calibri"/>
              </a:rPr>
              <a:t>07  ภาพใหญ่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30352" y="74980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0234A"/>
                </a:solidFill>
                <a:latin typeface="Cambria"/>
                <a:ea typeface="Cambria"/>
                <a:cs typeface="Cambria"/>
                <a:sym typeface="Cambria"/>
              </a:rPr>
              <a:t>คปภ. สู่ Ecosystem Builder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66928" y="1572768"/>
            <a:ext cx="1371600" cy="50292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48640" y="1965960"/>
            <a:ext cx="11064240" cy="1371600"/>
          </a:xfrm>
          <a:prstGeom prst="rect">
            <a:avLst/>
          </a:prstGeom>
          <a:solidFill>
            <a:srgbClr val="0958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National Risk Buffer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41248" y="2606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โครงสร้างกลางที่ให้ผู้เอาประกันถ่ายครั้งเดียว ใช้ได้ทุกบริษัทอย่างไร้รอยต่อ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3657600"/>
            <a:ext cx="110642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48640" y="3657600"/>
            <a:ext cx="64008" cy="713232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22960" y="3657600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ลดต้นทุน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023360" y="3657600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หลักสิบล้านบาทต่อเหตุการณ์ภัยหมู่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4498848"/>
            <a:ext cx="110642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48640" y="4498848"/>
            <a:ext cx="64008" cy="713232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22960" y="4498848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ช่วยประชาชนเร็วขึ้น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023360" y="4498848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ได้เงินเยียวยาโดยไม่ต้องรอคิวผู้ประเมิน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48640" y="5340096"/>
            <a:ext cx="110642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548640" y="5340096"/>
            <a:ext cx="64008" cy="713232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22960" y="5340096"/>
            <a:ext cx="3108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3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234A"/>
                </a:solidFill>
                <a:latin typeface="Calibri"/>
                <a:ea typeface="Calibri"/>
                <a:cs typeface="Calibri"/>
                <a:sym typeface="Calibri"/>
              </a:rPr>
              <a:t>ยกระดับ InsurTech ไทย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023360" y="5340096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พร้อมรับความเสี่ยงอุบัติใหม่ในโลกอนาคต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แผนพัฒนาการประกันภัยฉบับที่ 5  •  คปภ. ปรับบทบาทสู่ Ecosystem Builder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48640" y="1965960"/>
            <a:ext cx="11064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WitnessClaim Bureau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บูโรหลักฐานความเสียหายแห่งชาติ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291840" y="3886200"/>
            <a:ext cx="5623560" cy="777240"/>
          </a:xfrm>
          <a:prstGeom prst="rect">
            <a:avLst/>
          </a:prstGeom>
          <a:solidFill>
            <a:srgbClr val="E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291840" y="3886200"/>
            <a:ext cx="5623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240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412402"/>
                </a:solidFill>
                <a:latin typeface="Cambria"/>
                <a:ea typeface="Cambria"/>
                <a:cs typeface="Cambria"/>
                <a:sym typeface="Cambria"/>
              </a:rPr>
              <a:t>ถ่ายครั้งเดียว ใช้ได้ทุกบริษัท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เพื่อความยั่งยืนของระบบประกันภัยไทย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0" y="6327648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WITNESSCLAIM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331720" y="6327648"/>
            <a:ext cx="9601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ทีม Token Me Limit  •  ขอบคุณครับ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2026-08-22T03:36:47Z</dcterms:created>
  <dc:creator>PptxGenJS</dc:creator>
</cp:coreProperties>
</file>